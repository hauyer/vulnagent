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3a95b658df42eb" /><Relationship Type="http://schemas.openxmlformats.org/officeDocument/2006/relationships/extended-properties" Target="/docProps/app.xml" Id="R93104eccae8f4710" /><Relationship Type="http://schemas.openxmlformats.org/officeDocument/2006/relationships/officeDocument" Target="/ppt/presentation.xml" Id="R50fa5922aa9a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f24ee7c974451e"/>
  </p:sldMasterIdLst>
  <p:notesMasterIdLst>
    <p:notesMasterId xmlns:r="http://schemas.openxmlformats.org/officeDocument/2006/relationships" r:id="Rcde525d3d3444bd0"/>
  </p:notesMasterIdLst>
  <p:sldIdLst>
    <p:sldId xmlns:r="http://schemas.openxmlformats.org/officeDocument/2006/relationships" id="256" r:id="R372fdf9a2e054e8d"/>
    <p:sldId xmlns:r="http://schemas.openxmlformats.org/officeDocument/2006/relationships" id="257" r:id="R820e7a4bdf3946a8"/>
    <p:sldId xmlns:r="http://schemas.openxmlformats.org/officeDocument/2006/relationships" id="258" r:id="Rdc75c8db84b94255"/>
    <p:sldId xmlns:r="http://schemas.openxmlformats.org/officeDocument/2006/relationships" id="259" r:id="R041e334c94494f6a"/>
    <p:sldId xmlns:r="http://schemas.openxmlformats.org/officeDocument/2006/relationships" id="260" r:id="R605c95f269564819"/>
    <p:sldId xmlns:r="http://schemas.openxmlformats.org/officeDocument/2006/relationships" id="261" r:id="Rdd831bda6da541d3"/>
    <p:sldId xmlns:r="http://schemas.openxmlformats.org/officeDocument/2006/relationships" id="262" r:id="R3baace084fec445f"/>
    <p:sldId xmlns:r="http://schemas.openxmlformats.org/officeDocument/2006/relationships" id="263" r:id="R1bf3306cb59e42d4"/>
    <p:sldId xmlns:r="http://schemas.openxmlformats.org/officeDocument/2006/relationships" id="264" r:id="Rd91daabca03b45f0"/>
    <p:sldId xmlns:r="http://schemas.openxmlformats.org/officeDocument/2006/relationships" id="265" r:id="R17221f460e5c493c"/>
    <p:sldId xmlns:r="http://schemas.openxmlformats.org/officeDocument/2006/relationships" id="266" r:id="R6bffae487ea44977"/>
    <p:sldId xmlns:r="http://schemas.openxmlformats.org/officeDocument/2006/relationships" id="267" r:id="R7d022b419ee043cf"/>
    <p:sldId xmlns:r="http://schemas.openxmlformats.org/officeDocument/2006/relationships" id="268" r:id="R2f4e5dce10f247ec"/>
    <p:sldId xmlns:r="http://schemas.openxmlformats.org/officeDocument/2006/relationships" id="269" r:id="R9c4c02ffdfcb482e"/>
    <p:sldId xmlns:r="http://schemas.openxmlformats.org/officeDocument/2006/relationships" id="270" r:id="Rb22fb88598864693"/>
    <p:sldId xmlns:r="http://schemas.openxmlformats.org/officeDocument/2006/relationships" id="271" r:id="R55ca205aa6a2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ec5c216ea44eb" /><Relationship Type="http://schemas.openxmlformats.org/officeDocument/2006/relationships/slideMaster" Target="/ppt/slideMasters/slideMaster1.xml" Id="R22f24ee7c974451e" /><Relationship Type="http://schemas.openxmlformats.org/officeDocument/2006/relationships/notesMaster" Target="/ppt/notesMasters/notesMaster1.xml" Id="Rcde525d3d3444bd0" /><Relationship Type="http://schemas.openxmlformats.org/officeDocument/2006/relationships/presProps" Target="/ppt/presProps.xml" Id="R5a641739125a4fff" /><Relationship Type="http://schemas.openxmlformats.org/officeDocument/2006/relationships/tableStyles" Target="/ppt/tableStyles.xml" Id="R5a306a6701e74310" /><Relationship Type="http://schemas.openxmlformats.org/officeDocument/2006/relationships/slide" Target="/ppt/slides/slide1.xml" Id="R372fdf9a2e054e8d" /><Relationship Type="http://schemas.openxmlformats.org/officeDocument/2006/relationships/slide" Target="/ppt/slides/slide2.xml" Id="R820e7a4bdf3946a8" /><Relationship Type="http://schemas.openxmlformats.org/officeDocument/2006/relationships/slide" Target="/ppt/slides/slide3.xml" Id="Rdc75c8db84b94255" /><Relationship Type="http://schemas.openxmlformats.org/officeDocument/2006/relationships/slide" Target="/ppt/slides/slide4.xml" Id="R041e334c94494f6a" /><Relationship Type="http://schemas.openxmlformats.org/officeDocument/2006/relationships/slide" Target="/ppt/slides/slide5.xml" Id="R605c95f269564819" /><Relationship Type="http://schemas.openxmlformats.org/officeDocument/2006/relationships/slide" Target="/ppt/slides/slide6.xml" Id="Rdd831bda6da541d3" /><Relationship Type="http://schemas.openxmlformats.org/officeDocument/2006/relationships/slide" Target="/ppt/slides/slide7.xml" Id="R3baace084fec445f" /><Relationship Type="http://schemas.openxmlformats.org/officeDocument/2006/relationships/slide" Target="/ppt/slides/slide8.xml" Id="R1bf3306cb59e42d4" /><Relationship Type="http://schemas.openxmlformats.org/officeDocument/2006/relationships/slide" Target="/ppt/slides/slide9.xml" Id="Rd91daabca03b45f0" /><Relationship Type="http://schemas.openxmlformats.org/officeDocument/2006/relationships/slide" Target="/ppt/slides/slide10.xml" Id="R17221f460e5c493c" /><Relationship Type="http://schemas.openxmlformats.org/officeDocument/2006/relationships/slide" Target="/ppt/slides/slide11.xml" Id="R6bffae487ea44977" /><Relationship Type="http://schemas.openxmlformats.org/officeDocument/2006/relationships/slide" Target="/ppt/slides/slide12.xml" Id="R7d022b419ee043cf" /><Relationship Type="http://schemas.openxmlformats.org/officeDocument/2006/relationships/slide" Target="/ppt/slides/slide13.xml" Id="R2f4e5dce10f247ec" /><Relationship Type="http://schemas.openxmlformats.org/officeDocument/2006/relationships/slide" Target="/ppt/slides/slide14.xml" Id="R9c4c02ffdfcb482e" /><Relationship Type="http://schemas.openxmlformats.org/officeDocument/2006/relationships/slide" Target="/ppt/slides/slide15.xml" Id="Rb22fb88598864693" /><Relationship Type="http://schemas.openxmlformats.org/officeDocument/2006/relationships/slide" Target="/ppt/slides/slide16.xml" Id="R55ca205aa6a2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397bbef4e8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f80ff72fc4bc3" /><Relationship Type="http://schemas.openxmlformats.org/officeDocument/2006/relationships/notesMaster" Target="/ppt/notesMasters/notesMaster1.xml" Id="Rcd4a359bf1854e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3c0ca00914d2b" /><Relationship Type="http://schemas.openxmlformats.org/officeDocument/2006/relationships/notesMaster" Target="/ppt/notesMasters/notesMaster1.xml" Id="R0135c914b8df4a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8a816e95c647a3" /><Relationship Type="http://schemas.openxmlformats.org/officeDocument/2006/relationships/notesMaster" Target="/ppt/notesMasters/notesMaster1.xml" Id="R92838551368a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13554168f49bd" /><Relationship Type="http://schemas.openxmlformats.org/officeDocument/2006/relationships/notesMaster" Target="/ppt/notesMasters/notesMaster1.xml" Id="R0c306c2c5bdf43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d4e66832a40c9" /><Relationship Type="http://schemas.openxmlformats.org/officeDocument/2006/relationships/notesMaster" Target="/ppt/notesMasters/notesMaster1.xml" Id="R403a64038f8e42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fb544b0a994557" /><Relationship Type="http://schemas.openxmlformats.org/officeDocument/2006/relationships/notesMaster" Target="/ppt/notesMasters/notesMaster1.xml" Id="R3854b744c5a044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4811cd06ae4043" /><Relationship Type="http://schemas.openxmlformats.org/officeDocument/2006/relationships/notesMaster" Target="/ppt/notesMasters/notesMaster1.xml" Id="R4e2a961ab6284e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23cefd28440da" /><Relationship Type="http://schemas.openxmlformats.org/officeDocument/2006/relationships/notesMaster" Target="/ppt/notesMasters/notesMaster1.xml" Id="R3d7789f36f2944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2d6d56a0d6435d" /><Relationship Type="http://schemas.openxmlformats.org/officeDocument/2006/relationships/notesMaster" Target="/ppt/notesMasters/notesMaster1.xml" Id="R59ab006571a646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1cd337acde4924" /><Relationship Type="http://schemas.openxmlformats.org/officeDocument/2006/relationships/notesMaster" Target="/ppt/notesMasters/notesMaster1.xml" Id="R42d6fd2e77474b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55e008be60470a" /><Relationship Type="http://schemas.openxmlformats.org/officeDocument/2006/relationships/notesMaster" Target="/ppt/notesMasters/notesMaster1.xml" Id="Rd1e30daa50c54b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deacc018b2425d" /><Relationship Type="http://schemas.openxmlformats.org/officeDocument/2006/relationships/notesMaster" Target="/ppt/notesMasters/notesMaster1.xml" Id="Rbaab22551f3c47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f91d8860da4c68" /><Relationship Type="http://schemas.openxmlformats.org/officeDocument/2006/relationships/notesMaster" Target="/ppt/notesMasters/notesMaster1.xml" Id="R18fdb69a318f47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8997b669f94494" /><Relationship Type="http://schemas.openxmlformats.org/officeDocument/2006/relationships/notesMaster" Target="/ppt/notesMasters/notesMaster1.xml" Id="R1ff3db0c15ba4b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df5f797b434b9d" /><Relationship Type="http://schemas.openxmlformats.org/officeDocument/2006/relationships/notesMaster" Target="/ppt/notesMasters/notesMaster1.xml" Id="Rdb0758f4358a46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f080b9c6ae4083" /><Relationship Type="http://schemas.openxmlformats.org/officeDocument/2006/relationships/notesMaster" Target="/ppt/notesMasters/notesMaster1.xml" Id="Re5af1dad307841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VulnAgent V0.41 在 V0.4 基线上增加本地 Ollama 安全测试，并完善受保护二进制的去壳、反编译、伪代码和人工复核展示。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各位老师好，我们汇报的项目是 VulnAgent V0.41。系统面向本地授权目标，用多智能体组织源码、二进制和大模型安全测试，并把发现结果放入统一证据链。今天重点演示本地开源模型测试，以及加壳和混淆二进制的可读逆向证据。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单次 LLM 回答容易缺少位置、数据流和可触发性证据。VulnAgent 用结构化候选、Evidence、Verification 和报告区分发现与确认。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传统做法常把大模型的一段回答直接当成漏洞结论，但生成内容可能出现幻觉，也缺少代码位置、数据流和触发证据。我们的目标是让结论可以复核，过程可以追踪。系统记录工具调用和证据来源，再由独立验证模块判断是否足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六层架构将界面、LangGraph 调度、专业 Agent、分析能力、本地服务与基础设施解耦。冻结公共 Schema 保证不同分析来源能进入同一数据链。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系统分为六层。React 和 FastAPI 负责交互与接口，LangGraph 和 Supervisor 决定下一步执行节点。专业 Agent 只处理自己的任务，底层能力封装解析、逆向、Fuzz、证据验证和报告。Ollama、SQLite 和文件存储位于适配边界后，因此新增模型或工具不需要破坏核心协议。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RuntimeState 只保存路由信息，AnalysisContext 保存候选、证据和报告。Supervisor 使用有界步数和路由历史避免无限循环。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这里是核心状态图。Supervisor 读取当前状态后选择 Planner、源码、二进制、Fuzz、Verification 或报告节点。RuntimeState 只保存当前节点、步数和历史路由，业务结果集中放在 AnalysisContext。调度与业务数据分离后，流程可以收敛，也更方便审计每一步为何发生。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V0.4 已提供源码、二进制、Benchmark、受控动态验证、持久化和多格式报告。V0.41 不修改冻结的 Task、AgentMessage、Candidate 和 Evidence 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V0.41 不是推翻重做。左侧这些成熟能力全部保留，包括源码污点分析、PE/ELF 静态分析、Fuzz、独立验证和多格式报告。右侧两项按规划明确排除：当前没有真正的网络与文件系统隔离，也没有跨进程 Agent 检查点恢复。答辩时我们只陈述已经验证的能力。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三项课程要求分别对应开源大模型、加壳目标和混淆目标。任意两种或两款是验收覆盖数，不是单次任务最小批量。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课程要求分成三类。大模型部分用 DeepSeek 和 Qwen 作为两种基线，同时可以自动发现其他本机 Ollama 模型。加壳和混淆部分分别准备至少两款授权目标完成覆盖证明。系统允许每个样本单独运行，也允许一次批量提交最多六个目标。三类结果最终进入同一候选、证据、验证和报告链路。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八个界面按演示动线排列。测试实验室是默认入口，Dashboard、Agent 拓扑和事件遥测用于观察任务，证据、卷宗和报告负责复核与交付。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前端共有八个界面。我们把漏洞测试实验室放在最前，方便直接进入课程三类测试。任务运行后，态势大屏看汇总，Agent 拓扑和事件遥测看过程，证据链矩阵与漏洞卷宗解释结论，审计报告负责导出，API 控制台用于核对真实后端接口。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TestLabView 统一管理 local_llm、packed_binary 和 obfuscated_binary 三类能力。提交状态按分类隔离，避免切换入口时错误显示运行中。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演示从漏洞测试实验室开始。左侧三个入口对应课程三类要求。中间区域配置目标，下面实时输出过程和结果。这里需要强调，加壳和混淆测试一个文件就能运行，支持增加到六个批量目标。未选择文件时前端立即提示，不会发请求，也不会一直转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打开漏洞测试实验室首页，无需上传，截取三类入口和顶部导航。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85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后端通过 Ollama /api/tags 动态发现模型，通过 /api/chat 执行测试。每条用例生成唯一 Canary，只有响应包含该 Canary 才触发候选。单次证据通常归档为 UNCERTAIN。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大模型测试只访问本机 127.0.0.1，不需要 API Key。点击重新探测后，配置模型保留友好名称，其他已安装模型自动追加。三类漏洞分别是提示词注入、系统提示泄露和安全对齐绕过，共十五条安全合成探针。每条探针都有唯一 Canary，只有模型真正返回对应标记才算触发。触发只是候选，不会绕过独立验证直接确认。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截图 A：重新探测后的四模型下拉框。截图 B：Qwen 或 DeepSeek 完成 15 条扫描后的日志、统计和归档按钮。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85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BinaryTarget 输入包含名称、保护器、路径、SHA-256、静态授权和动态授权。前后端均允许至少一个目标，拒绝重复路径。浏览器上传自动计算哈希。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加壳和混淆使用同一套目标配置模型。每个目标记录名称、保护器、文件路径、哈希和授权状态。一个目标即可运行，也可以增加目标完成批量对比。为了安全，演示时只勾选本地静态分析授权，动态验证保持关闭。因此动态模糊显示未启用、覆盖率显示不适用，这是正确状态，不是功能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左侧用 afl-training UPX 样本完成加壳测试。右侧用 obfuscated-01 完成混淆测试。需要课程双样本证据时分别再加入括号中的第二个文件。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Reverse workflow 从结构事实出发。只有授权开启时才选择 UPX 和 radare2。BinaryAnalysisAgent 消费伪代码、危险导入和语义调用点，生成带地址和代码片段的候选。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二进制流程先识别格式、区段、熵值和保护信号，再由智能体选择分析步骤。UPX 只处理副本，不启动程序。radare2 离线提取函数、基础控制流和逐函数 pdc 伪代码。后续规则结合导入、字符串、语义调用点和调用关系形成候选。工具不可用或失败时系统会如实记录，不用模拟代码填充。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BinaryReverseWorkbench 读取反编译工具事实和 logic analyzer 输出。前端允许按地址选函数，并展示 CFG 后继、semantic locations、call chain 和 rationale。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这页是二进制分析的核心展示。左侧选择函数，右侧查看真实 pdc 伪代码。下方控制流显示节点关系，关键逻辑区域会标记认证、加解密、注册或许可证相关位置，并给出来源和判定依据。漏洞候选引用这些函数地址和代码片段，所以老师可以从结论反查到实际反编译证据。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先在加壳入口完成 afl-training 样本任务，再进入证据链矩阵，截取逆向工作台完整区域。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Verification 与发现模块解耦。HumanReviewAnnotation 通过独立 API 保存，ReportView 将标注加入报告，但不修改 VerificationResult。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发现模块只产生候选，Verification 再依据证据确认、驳回或保留不确定。人工复核也单独保存。教师或分析人员可以给出接受、驳回或需要跟进的意见，并写明原因。报告同时展示机器验证和人工标注，但人工操作不会偷偷改写系统原始结论，因此整个审计过程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使用同一个已归档任务。左图截漏洞候选卷宗的人工标注区域，右图截审计报告中的人工复核章节与导出按钮。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Dashboard 的三个卡片绑定固定 Benchmark。自定义目标表单先执行上传、格式校验和哈希计算，随后由用户确认才创建审计任务。上传上限 16 MiB。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态势大屏中的三个 Benchmark 卡片分别对应固定 Python 项目、SQL 注入样本和 PE 教学程序。自定义上传是第四条独立入口，不需要上传后再选择卡片。系统先保存副本、检查格式并计算哈希，页面显示文件已就绪。只有用户再次点击初始化并开始审计才会创建任务，因此上传不会自动跑完，也可以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展开自定义目标表单，上传指定文件后停留在确认状态，截到文件已就绪、取消和启动按钮。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结果页区分课程双模型实测、某次浏览器结果、二进制逆向结果和自动化门禁。471 是既有完整环境的历史全量基线，本轮新增回归分别为 7/7 与 8/8。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这里展示的是可复核的本次运行数据。DeepSeek 和 Qwen 各完成十五条后端测试且没有执行错误。Qwen 的一次浏览器运行产生三条触发，归档为三条不确定候选。二进制样本得到二十四个函数和二十四份伪代码。生成式模型触发数可能波动，所以我们标注为某次实测。新增回归、前端检查和生产构建均已通过。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[建议时长]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[技术讲解]</a:t>
            </a:r>
          </a:p>
          <a:p xmlns:a="http://schemas.openxmlformats.org/drawingml/2006/main">
            <a:r>
              <a:t>总结聚焦多模型动态发现、受保护二进制逆向证据和独立验证。优先级 8、9 仍明确排除。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[台上演讲词]</a:t>
            </a:r>
          </a:p>
          <a:p xmlns:a="http://schemas.openxmlformats.org/drawingml/2006/main">
            <a:r>
              <a:t>最后总结：V0.41 用统一实验室承载本地大模型、加壳和混淆三类测试。模型侧支持动态发现，二进制侧展示真实去壳、反编译和关键逻辑证据。所有发现都进入独立验证和人工复核，系统只根据证据给出结论。谢谢各位老师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[截图说明]</a:t>
            </a:r>
          </a:p>
          <a:p xmlns:a="http://schemas.openxmlformats.org/drawingml/2006/main">
            <a:r>
              <a:t>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030e7172447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fda1f392b348da" /><Relationship Type="http://schemas.openxmlformats.org/officeDocument/2006/relationships/slideLayout" Target="/ppt/slideLayouts/slideLayout1.xml" Id="R4f5624ca099843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624ca099843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3f5f6db0a40a3" /><Relationship Type="http://schemas.openxmlformats.org/officeDocument/2006/relationships/notesSlide" Target="/ppt/notesSlides/notesSlide1.xml" Id="Rb5798b20f49c4b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09fb58f6a45df" /><Relationship Type="http://schemas.openxmlformats.org/officeDocument/2006/relationships/notesSlide" Target="/ppt/notesSlides/notesSlide2.xml" Id="R9c949b908a5a4c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de5f40ded45aa" /><Relationship Type="http://schemas.openxmlformats.org/officeDocument/2006/relationships/notesSlide" Target="/ppt/notesSlides/notesSlide3.xml" Id="R60dafb03768e48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612e927c547e6" /><Relationship Type="http://schemas.openxmlformats.org/officeDocument/2006/relationships/notesSlide" Target="/ppt/notesSlides/notesSlide4.xml" Id="Rf2ec9cca43da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629068a74ae4" /><Relationship Type="http://schemas.openxmlformats.org/officeDocument/2006/relationships/notesSlide" Target="/ppt/notesSlides/notesSlide5.xml" Id="R5dbbe77ae90e4f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1794c36754a6c" /><Relationship Type="http://schemas.openxmlformats.org/officeDocument/2006/relationships/notesSlide" Target="/ppt/notesSlides/notesSlide6.xml" Id="Ra63475efc2f14d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ef8d2aabf4030" /><Relationship Type="http://schemas.openxmlformats.org/officeDocument/2006/relationships/notesSlide" Target="/ppt/notesSlides/notesSlide7.xml" Id="R2150ca0f3f2547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0cbe7dd64021" /><Relationship Type="http://schemas.openxmlformats.org/officeDocument/2006/relationships/notesSlide" Target="/ppt/notesSlides/notesSlide8.xml" Id="R92f603ef252e4d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92d56d27b4ec4" /><Relationship Type="http://schemas.openxmlformats.org/officeDocument/2006/relationships/notesSlide" Target="/ppt/notesSlides/notesSlide9.xml" Id="Rf719640be7dd45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1e7e9b5b24e28" /><Relationship Type="http://schemas.openxmlformats.org/officeDocument/2006/relationships/notesSlide" Target="/ppt/notesSlides/notesSlide10.xml" Id="R3e170ae47233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6304970474a35" /><Relationship Type="http://schemas.openxmlformats.org/officeDocument/2006/relationships/notesSlide" Target="/ppt/notesSlides/notesSlide11.xml" Id="R20c2f85314014d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6fa690adb4919" /><Relationship Type="http://schemas.openxmlformats.org/officeDocument/2006/relationships/notesSlide" Target="/ppt/notesSlides/notesSlide12.xml" Id="R05c7566c7a0d41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c1ec727e64cf8" /><Relationship Type="http://schemas.openxmlformats.org/officeDocument/2006/relationships/notesSlide" Target="/ppt/notesSlides/notesSlide13.xml" Id="R562d12a4e6784f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b2c042f364e0b" /><Relationship Type="http://schemas.openxmlformats.org/officeDocument/2006/relationships/notesSlide" Target="/ppt/notesSlides/notesSlide14.xml" Id="R76523acc04264b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1caf94a2a4457" /><Relationship Type="http://schemas.openxmlformats.org/officeDocument/2006/relationships/notesSlide" Target="/ppt/notesSlides/notesSlide15.xml" Id="Red586c39d56944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ead335dc446e7" /><Relationship Type="http://schemas.openxmlformats.org/officeDocument/2006/relationships/notesSlide" Target="/ppt/notesSlides/notesSlide16.xml" Id="Re1d5adaca18a47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8774F-0E9C-4941-A753-4721276D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3B2D4-0EB2-4AEB-96E8-C60123B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3B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AA904-61E9-410B-8BAE-987B973A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761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69D18-B65D-4061-821A-18AA456E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CF8C1-D9AB-48DE-ACE0-BB778D5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10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8B267-8FD6-41C0-83F3-D20F09D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基于大模型智能体的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软件漏洞挖掘系统设计与实现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6D912-E344-4055-AC6D-A4689BE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4953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0517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VulnAgent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F59AC-C015-4310-A708-F4E7D715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8575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D8EC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V0.41 · 演示版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F1272-5397-489C-91F7-92BDFF25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43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8E8C8-3B30-4F3A-A6CC-4FDF8A18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多智能体编排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AA4C7-4696-4F66-BC64-CCA7F9D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24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4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2D7A4-694B-4051-AF7F-9EAF3F80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24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证据优先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FAF4E-728E-4D0F-B98A-7DF3E8EC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24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47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37AF2-66F9-44E0-B097-E235C11A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24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独立验证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6C8D7-0E6D-4761-96EE-3B17D62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汇报人：周浩 杨明儒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北京邮电大学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2026 年 9 月 12 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A8F29-E26E-4A3D-A42E-50BE95DF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19050">
            <a:solidFill>
              <a:srgbClr val="0E63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VulnAgent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◉_◉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31681-240C-45D8-B34B-FA61F9CB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76375"/>
            <a:ext cx="1381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代码分析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89771-A16F-4C06-BB29-39EB63FF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76375"/>
            <a:ext cx="1381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漏洞挖掘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9F973-8DEE-42D1-8A0A-1F27D140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48125"/>
            <a:ext cx="1381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证据验证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471AE-C217-4834-A4F2-9B0DDA98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48125"/>
            <a:ext cx="1381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报告生成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2ACF3-BEAA-4137-B234-B73E5950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67350"/>
            <a:ext cx="13335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D8EC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本地模型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C4F1B-BE3B-446B-9DF4-FE3AB908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13335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D8EC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二进制逆向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840F4-BE85-43A1-8E05-180B750C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124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8ECFF"/>
          </a:solidFill>
          <a:ln xmlns:a="http://schemas.openxmlformats.org/drawingml/2006/main" w="9525">
            <a:solidFill>
              <a:srgbClr val="D8EC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证据闭环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994B9-31B3-4EBD-9BEF-A34ABB68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让找到的漏洞，变得可信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C741D-04D1-4AB4-8D7E-C69A0132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9A5E9-987D-4737-B29E-6CA0C795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3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192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92BE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</p:spTree>
    <p:extLst>
      <p:ext uri="{BB962C8B-B14F-4D97-AF65-F5344CB8AC3E}">
        <p14:creationId xmlns:p14="http://schemas.microsoft.com/office/powerpoint/2010/main" val="1062027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508330-5062-4980-9472-2040583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53A73-02C2-4F7F-9A3E-AE0CDB4C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3B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2735F-6953-4919-AC44-92A8BFBF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761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E56F7-5119-4AB0-943E-CC91DFA5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6366E-ED6B-4A19-A190-9AE8851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10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9E385-5F16-4ADE-BAA3-57402E9E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0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一、背景与问题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FEEF7-3BA5-4558-8D00-3882C4C1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23950"/>
            <a:ext cx="66675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EAF7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LLM 能“说”出漏洞，但给不出证据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8FFDE-DFA2-45A3-9429-87F6308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5476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46607-CA76-4E7B-A613-3A0F7CBF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547687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104F9-83DD-4A06-BE24-E414ACFC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⚠  现状与风险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46AC1-E9CB-4309-A8B5-874BDB7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38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◎  我们的问题定义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6A90C-397C-4F47-8FDF-253665E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9E8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91F33-320C-4A89-BBF0-8EE4C6CA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796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78600-E130-4071-A36C-EE2B6D2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02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直接问大模型找漏洞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B2113-DBFF-4B3F-B9D0-BB5EDC8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57450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只需自然语言提问，即可获得漏洞结论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5E631-E87F-460F-A1F1-9F325435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9E8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11D38-A7B8-41A0-B80E-8B27BFE4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E6"/>
          </a:solidFill>
          <a:ln xmlns:a="http://schemas.openxmlformats.org/drawingml/2006/main" w="9525">
            <a:solidFill>
              <a:srgbClr val="FFE6E6"/>
            </a:solidFill>
            <a:prstDash val="solid"/>
          </a:ln>
        </p:spPr>
        <p:txBody>
          <a:bodyPr xmlns:a="http://schemas.openxmlformats.org/drawingml/2006/main" anchor="ctr">
            <a:normAutofit fontScale="796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2B22-51FC-4C4D-97AC-5227897E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可能产生幻觉（Hallucination）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122BC-A01A-4941-B477-280924BB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生成看似合理但实际不存在的漏洞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E244C-4F8A-48B3-A99E-5C4C8252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9E8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AA3BA-55AF-4C0E-846B-EDE3B61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796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7AC46-E0C7-4C29-96E1-5EE7E97C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缺乏位置、数据流、可触发性证据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3BDF3-B604-44F8-A696-779500DF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57650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无法定位代码位置，难以验证是否可触发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D6693-9D8B-4068-9E5F-6A82B5B2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145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9E8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5A9A0B-9161-427E-9E8B-39B65CD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19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653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D99D5-B380-4605-84E0-EEDBE71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02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漏洞结论必须可复核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A3ED2-C824-475A-A631-68E6541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提供可验证的证据，支持人工复现与审计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B9DED4-497C-4A2C-9A02-4A242A0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146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9E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6B9CB-2A06-4C41-9239-8C598F27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19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738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9D821-A759-4185-B020-5B8782E5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分析过程必须可追溯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F6491-AFCA-4434-8A9F-33A69C0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记录完整的分析步骤、工具调用与推理链路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7E3135-6C28-4ED1-90A7-3D88ED0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147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9E8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B5CBE4-AAD3-416F-825B-230E47BF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19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564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8CF17C-FEE7-43C9-933C-8C696C03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需要多智能体协作 + 证据驱动流水线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CD273-028D-4DD1-921D-70BC834D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分工协作完成漏洞发现、验证与报告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86DEF2-1676-4993-8827-1F71716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7750"/>
            <a:ext cx="5429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5CD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D42FB-1DBC-4C9C-88D0-A426C53D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A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A4A4A"/>
                </a:solidFill>
                <a:latin typeface="Arial"/>
                <a:ea typeface="Arial"/>
                <a:cs typeface="Arial"/>
              </a:rPr>
              <a:t>LLM-only：直接提问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23C222-A2DF-44C0-B628-AAEA145E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帮我找一下这个代码的漏洞？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899454-0F39-42A8-8A76-C3C3B13C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86375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E1147-9A4E-4AC3-B512-40EBB26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9700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A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A4A4A"/>
                </a:solidFill>
                <a:latin typeface="Arial"/>
                <a:ea typeface="Arial"/>
                <a:cs typeface="Arial"/>
              </a:rPr>
              <a:t>结论快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DA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A4A4A"/>
                </a:solidFill>
                <a:latin typeface="Arial"/>
                <a:ea typeface="Arial"/>
                <a:cs typeface="Arial"/>
              </a:rPr>
              <a:t>但不可信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E99B1C-6B42-4484-BB9B-DC89F67A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5429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35E79D-B0A9-4C02-B050-8465769D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Evidence First：多智能体 + 证据驱动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483811-5B19-4F6C-9088-13D5443F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分析项目并给出可验证的漏洞报告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78B83C-A8FB-49C3-A241-78F3E3DB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863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VulnAgent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8A45AC-E1F3-4256-A560-1A8AFE0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19700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A7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A76A"/>
                </a:solidFill>
                <a:latin typeface="Arial"/>
                <a:ea typeface="Arial"/>
                <a:cs typeface="Arial"/>
              </a:rPr>
              <a:t>结论可信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FA7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A76A"/>
                </a:solidFill>
                <a:latin typeface="Arial"/>
                <a:ea typeface="Arial"/>
                <a:cs typeface="Arial"/>
              </a:rPr>
              <a:t>可验证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7DA509-621D-4C6B-86D8-63C0471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43625"/>
            <a:ext cx="76200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核心动机：把“会说”变成“能证明”。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99F83E-6FA2-4810-B5D3-8A768D25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D06D6-2945-4207-9369-A992B3F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3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192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92BE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</p:spTree>
    <p:extLst>
      <p:ext uri="{BB962C8B-B14F-4D97-AF65-F5344CB8AC3E}">
        <p14:creationId xmlns:p14="http://schemas.microsoft.com/office/powerpoint/2010/main" val="1139129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147E49-1CB7-4FCA-A2B2-2ADF4826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2ED9A-E81C-4BAE-B69D-1D79397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3B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54149-F9D0-4037-A73B-B73DEF5A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761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48392-B406-4568-8399-7B38952F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0C119-26C7-48E4-97A0-61A002FE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10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578E-0FDE-44ED-A8B5-A18FF311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0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二、系统总体设计：六层架构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3C855-CD9E-444E-B9C3-BEE749DB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43000"/>
            <a:ext cx="90011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4F4FF"/>
          </a:solidFill>
          <a:ln xmlns:a="http://schemas.openxmlformats.org/drawingml/2006/main" w="9525">
            <a:solidFill>
              <a:srgbClr val="E4F4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从用户请求到漏洞报告的端到端智能分析架构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50D7B-79F9-47C4-B303-64B6F4F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838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697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C46FA-D6C0-4076-A2BA-FEB910F5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2333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6E9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83FCA-C875-4857-AB1C-1942A73A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192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界面层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051B0-710A-4162-BD39-B656034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(Interface)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0B4B2-B7C1-424C-99A4-813550ED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43075"/>
            <a:ext cx="481012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18A90-6203-48CF-A2EA-94C9DAE0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097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FastAPI / React，任务提交与结果展示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9A114-8384-4A14-8953-8FB7CD6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669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提供用户交互界面，接收分析任务，展示分析过程与最终报告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89297-A2BF-40FE-865A-57AA2A1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24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697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C9943-6B96-4895-8752-E3E4379E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333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6E9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F9F4B-1F82-4870-8CC5-06436B1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调度层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8B3EB-2922-4197-ABB8-5022C1C6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(Orchestration)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77C7E-BF65-411D-B2CE-B665CFF7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28875"/>
            <a:ext cx="481012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BC6D5-4473-4FA6-86C1-72224FB8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955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LangGraph + Supervisor，决定先做什么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9C4E7-450B-49C8-8E1E-243E997E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527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基于当前状态和任务目标，选择合适的智能体并规划执行流程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B4BC3-4DB6-4E39-B442-0CFD943C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697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08958-0A8D-4FF3-9BDD-29248D4C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2333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6E9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9EF54-12E8-45D5-AAD0-2A79CEA8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智能体层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BEC51-8F6D-4AD3-8EBE-489AD4D1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(Agents)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0E9F0-72ED-41DF-AC8D-CF1351FB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14675"/>
            <a:ext cx="481012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F207B-BF33-413B-B822-420C4BBB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813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78"/>
                </a:solidFill>
                <a:latin typeface="Arial"/>
                <a:ea typeface="Arial"/>
                <a:cs typeface="Arial"/>
              </a:rPr>
              <a:t>Planner / Source / Binary / Fuzz / Verification / Reviewer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67A4B1-1600-4A68-91EF-03DDFEA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385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多个专业智能体协同工作，完成漏洞分析的各个环节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989C3-9D4D-4B1C-8DA8-9CFDCD16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697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9244C-68E5-4E6E-941C-F8DBF9C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333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6E9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1B336-3A73-4BE9-A3BD-91234BD7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能力层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84C02-D542-4C4B-BB3A-01E0C3E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(Capabilities)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FF989E-D9FA-454F-BE95-38D3D5A6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00475"/>
            <a:ext cx="481012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1E73E5-B5B8-436F-8CCC-A2D3CE15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671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Parser / Reverse / Fuzz / Evidence /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9D455-D782-4AA3-94E0-38CC9BEB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243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提供具体的分析工具和能力，封装可复用的安全分析功能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264751-25C4-401B-BF3C-5CAAC9B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815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697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6394B9-FC66-4509-85AF-603227F2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2333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6E9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B9D092-E631-49E0-92AE-F965B61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外部层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D2905E-97B7-43B3-B4E2-80CE297B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(External)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82855-2983-4413-833D-252217A6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86275"/>
            <a:ext cx="481012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FA796F-40C8-41DC-9E4A-A8F6C5E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529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Ollama / SQLite / 文件存储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8754DD-B727-4A35-9B65-06718E66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101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对接大语言模型、文件存储、知识库和漏洞数据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1EC57-8C0D-4F7B-B161-E18222D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67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697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4F9AA1-C077-42C0-920F-D91A992A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333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6E9F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22CE75-F82F-4960-B526-78CF15D2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482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基础设施层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A3B94A-02F2-4CE1-87DF-6302D9F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(Infrastructure)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3DB46C-CABB-4101-BF4E-B66981B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72075"/>
            <a:ext cx="481012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367F12-7510-4E7E-B182-D2015598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387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配置 / 日志 / 测试 / 安全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D7209E-1850-49A4-8FC8-5D3283F1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4959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提供系统运行所需的基础设施和运维保障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D037DE-DD8D-400A-A694-CAFC9790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3676650" cy="138112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B9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422087-A20F-4E01-8F8D-6277AB0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413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6F6615-A28F-49B4-857F-1839E9EA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85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关键思想：决策与执行解耦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350F20-E139-4264-AB61-6DC1C166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14575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大脑负责思考和规划，手脚负责具体执行。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通过清晰的分层设计，实现灵活扩展。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ABC70-37CD-4A5C-BC05-09ACBA8E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3676650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9668F0-1824-4D51-B41F-044BCE6D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95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8254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1FC8AF-ACA5-4826-9AD0-EE58A89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大脑（调度）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69DBAD-A998-424F-9C6F-1D8DD8CB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理解任务目标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规划执行步骤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选择合适的智能体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监控执行过程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532E89-A861-4BD6-A3E6-B6C075A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3676650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69AD62-A3AB-49A2-8605-71E2693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502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⚙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11A13D-9F10-48D3-BC28-6BD28E7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053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手脚（能力执行）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3828BB-81D7-42AA-B731-371C1BC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482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提供专业分析能力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执行具体分析任务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返回结构化结果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专注于单一职责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EF1844-C120-42FC-8D5E-489D445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A4D649-C71B-44FF-AAB1-F9AE14B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3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192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92BE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</p:spTree>
    <p:extLst>
      <p:ext uri="{BB962C8B-B14F-4D97-AF65-F5344CB8AC3E}">
        <p14:creationId xmlns:p14="http://schemas.microsoft.com/office/powerpoint/2010/main" val="793190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6E138E-C1D4-47D0-85BF-EA38D1D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E3081-7631-4698-B50D-83EF15E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3B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933A9-CC19-4267-A39E-FE05A3C5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761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F30F8-9A58-4B7C-AE50-BEF1BF7F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8DCBC-A274-4DD3-AAD3-53EF9E84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10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6E260-E5A0-47FB-B1F3-B941F02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0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827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三、核心工作流：LangGraph 有界状态图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475E8-C78F-4EC5-8A68-3C75A5D6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181100"/>
            <a:ext cx="871537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4F4FF"/>
          </a:solidFill>
          <a:ln xmlns:a="http://schemas.openxmlformats.org/drawingml/2006/main" w="9525">
            <a:solidFill>
              <a:srgbClr val="E4F4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基于 LangGraph 的多智能体协同分析流程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B8675-7C74-4401-8838-B3CC4DC1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3811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8FBD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12E22-1FB4-43BA-9DB4-A3C29029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571750"/>
            <a:ext cx="118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▶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START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用户提交任务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FAA0A-DB03-403E-A3E7-B6045B5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BD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2326B-641D-4E5D-BD93-15BDBE22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38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supervisor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任务理解与路由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749EF-89D4-40A1-A2BC-633EB3B0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分析当前状态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选择下一个智能体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39E24-0F88-419F-BDA1-BAC1A832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BD8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DC552-056C-4ADA-9F13-FFF03002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002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planner_agent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86B4C-4318-4AB9-BB42-0F25D715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71650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任务规划与分解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25530-5EEC-40AE-8BD1-4033455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28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D42C5-420E-46CE-908B-16A6E55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BD8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19583-6A33-40BD-A396-EC4D015A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669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source_agent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13A34-A104-42F6-87E5-08E82A2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代码与结构信息收集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3FA7E-60F4-48A1-8C67-0F40606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CE7BF-92CE-4EE7-90EB-0FA1E90E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BD8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9643A-36F8-4558-8D5B-6CCECBE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binary_agent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F35C9-3EE9-4CB3-AA86-9AED70A3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二进制分析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3148F-EB08-472F-BA30-ACE17CBA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62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1E3AE-BF26-4FDE-89A3-8C426557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BD8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D5BDB-7BF9-45A1-A490-90FC666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fuzz_agent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B116E-4BCD-49AF-8E9D-66F5AA1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模糊测试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B1085-6554-4F16-9311-BDB57346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AC10F-85D7-40AE-B5D0-0A3147E7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3852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BD8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707326-8CEF-4360-B451-F5300216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67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verification_agent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3221E-E9B5-4D35-9373-84642AD4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独立验证与 Reviewer 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F502E-0434-4B3D-8B42-189B155A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DA0FE-9F89-4F32-8954-0F8E86BC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BBD8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349A6C-BA54-4C82-88A4-7A31DAE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338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report_agent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01A158-0B5B-45AE-98FF-398B052C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72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7298"/>
                </a:solidFill>
                <a:latin typeface="Arial"/>
                <a:ea typeface="Arial"/>
                <a:cs typeface="Arial"/>
              </a:rPr>
              <a:t>报告生成与总结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215E7-7F99-46E5-B7F7-7C72CB4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EA147A-B26A-4926-B6C3-E2531B42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1714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BD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94AD1B-E1B3-44E4-B2C4-375E1E23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supervisor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状态更新与决策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969B8D-4567-4D26-A1C8-53A7F978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13811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8FBD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6A374E-42FE-432D-AC07-901060D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71750"/>
            <a:ext cx="1123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✓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END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输出漏洞报告</a:t>
            </a:r>
          </a:p>
        </p:txBody>
      </p:sp>
      <p:cxnSp>
        <p:nvCxnSpPr>
          <p:cNvPr id="16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781175" y="29527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076700" y="1771650"/>
            <a:ext cx="11430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2" name=""/>
          <p:cNvCxnSpPr>
            <a:stCxn xmlns:a="http://schemas.openxmlformats.org/drawingml/2006/main" id="10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076700" y="2238375"/>
            <a:ext cx="1143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3" name=""/>
          <p:cNvCxnSpPr>
            <a:stCxn xmlns:a="http://schemas.openxmlformats.org/drawingml/2006/main" id="1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076700" y="2705100"/>
            <a:ext cx="114300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4" name=""/>
          <p:cNvCxnSpPr>
            <a:stCxn xmlns:a="http://schemas.openxmlformats.org/drawingml/2006/main" id="1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076700" y="2952750"/>
            <a:ext cx="114300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5" name=""/>
          <p:cNvCxnSpPr>
            <a:stCxn xmlns:a="http://schemas.openxmlformats.org/drawingml/2006/main" id="10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076700" y="2952750"/>
            <a:ext cx="11430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6" name=""/>
          <p:cNvCxnSpPr>
            <a:stCxn xmlns:a="http://schemas.openxmlformats.org/drawingml/2006/main" id="1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076700" y="2952750"/>
            <a:ext cx="114300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7" name=""/>
          <p:cNvCxnSpPr>
            <a:stCxn xmlns:a="http://schemas.openxmlformats.org/drawingml/2006/main" id="1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077075" y="1771650"/>
            <a:ext cx="885825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8" name=""/>
          <p:cNvCxnSpPr>
            <a:stCxn xmlns:a="http://schemas.openxmlformats.org/drawingml/2006/main" id="17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077075" y="2238375"/>
            <a:ext cx="88582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69" name=""/>
          <p:cNvCxnSpPr>
            <a:stCxn xmlns:a="http://schemas.openxmlformats.org/drawingml/2006/main" id="21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077075" y="2705100"/>
            <a:ext cx="8858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70" name=""/>
          <p:cNvCxnSpPr>
            <a:stCxn xmlns:a="http://schemas.openxmlformats.org/drawingml/2006/main" id="2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7077075" y="2952750"/>
            <a:ext cx="885825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71" name=""/>
          <p:cNvCxnSpPr>
            <a:stCxn xmlns:a="http://schemas.openxmlformats.org/drawingml/2006/main" id="29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7077075" y="2952750"/>
            <a:ext cx="88582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72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7077075" y="2952750"/>
            <a:ext cx="885825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cxnSp>
        <p:nvCxnSpPr>
          <p:cNvPr id="173" name=""/>
          <p:cNvCxnSpPr>
            <a:stCxn xmlns:a="http://schemas.openxmlformats.org/drawingml/2006/main" id="37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9677400" y="29527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E63D9"/>
            </a:solidFill>
            <a:prstDash val="solid"/>
            <a:tailEnd type="triangle" w="med" len="me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85F7E2-FD32-4D6D-AF2E-18FB6E40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4292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3B873B-451C-43D8-B75B-DAE1A59C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760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1846A4-AA08-451B-90F1-63D6534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RuntimeState：只存路由信息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C37E86-DD8C-4B3E-9C67-D6A3AEB4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当前节点（current_node）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步数（step_count）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历史路由（route_history）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82F0FC-A798-47D1-88C2-A1324558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24375"/>
            <a:ext cx="54292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3FE75D-A4B1-4583-875D-4774015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EFF"/>
          </a:solidFill>
          <a:ln xmlns:a="http://schemas.openxmlformats.org/drawingml/2006/main" w="9525">
            <a:solidFill>
              <a:srgbClr val="D8EEFF"/>
            </a:solidFill>
            <a:prstDash val="solid"/>
          </a:ln>
        </p:spPr>
        <p:txBody>
          <a:bodyPr xmlns:a="http://schemas.openxmlformats.org/drawingml/2006/main" anchor="ctr">
            <a:normAutofit fontScale="760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5659BA-A556-4E41-BEB0-32CDE57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67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AnalysisContext：统一存业务结果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D901B2-4440-4D2A-B803-B43522BF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0062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漏洞信息（vulnerabilities）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证据材料（evidence）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• 分析报告（report）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0FEDD5-546A-435E-A3F1-1EC0CA3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72390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调度的大脑只记路，不背货；货单独放仓库。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395F39-E334-4A1A-BFCA-B342944F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AFD417-DA3A-4E71-86DC-926E355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3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192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92BE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</p:spTree>
    <p:extLst>
      <p:ext uri="{BB962C8B-B14F-4D97-AF65-F5344CB8AC3E}">
        <p14:creationId xmlns:p14="http://schemas.microsoft.com/office/powerpoint/2010/main" val="1693415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85BEF-1E79-43A7-8278-E46D420F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62CC4-05CA-4EC2-933D-326BDA4D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587BE-203C-4900-80A7-DBEFFB1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6E1EA-EA5E-453B-9980-95A4C92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E2E82-901D-450F-8B35-C97EC262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E3C29-9258-4BB4-A886-18B8B8A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E0573-2FE8-4BC1-ACE1-CC8F4FE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四、V0.4 功能基线与开发边界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B5EF-D9BF-46F6-808E-8976E2D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V0.41 保留成熟能力，只在既有协议上增加测试与展示闭环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73C78-CE35-4F07-AA25-699F2E6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726CB-E8A8-43FB-B4C5-A1FCA41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EDF86-FD84-42D7-8DEB-998B78AE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成熟能力完整保留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F4D28-4DDD-40E2-8F6B-BA1A3F21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42925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9D7F5"/>
            </a:solidFill>
            <a:prstDash val="solid"/>
          </a:ln>
        </p:spPr>
        <p:txBody>
          <a:bodyPr xmlns:a="http://schemas.openxmlformats.org/drawingml/2006/main" lIns="114300" tIns="9525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Python AST 与污点路径源码审计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PE/ELF 只读解析、危险导入和去符号回归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加壳/混淆特征、受控 Fuzz 与独立验证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统一 Candidate、Evidence、Verification 和报告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20 Source、14 Binary、1 Fuzz Benchmark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Markdown、JSON、HTML、PDF 与离线演示包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D65AB-39C0-447F-9EA9-CCFF74B7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明确排除的两项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B44C7-9406-4B80-8386-966A41B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7625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11430">
            <a:solidFill>
              <a:srgbClr val="F3BBBB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4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4545"/>
                </a:solidFill>
                <a:latin typeface="Arial"/>
                <a:ea typeface="Arial"/>
                <a:cs typeface="Arial"/>
              </a:rPr>
              <a:t>优先级 8</a:t>
            </a:r>
          </a:p>
          <a:p xmlns:a="http://schemas.openxmlformats.org/drawingml/2006/main">
            <a:pPr algn="ctr">
              <a:defRPr sz="1650" b="1">
                <a:solidFill>
                  <a:srgbClr val="C94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4545"/>
                </a:solidFill>
                <a:latin typeface="Arial"/>
                <a:ea typeface="Arial"/>
                <a:cs typeface="Arial"/>
              </a:rPr>
              <a:t>真正的网络与文件系统隔离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E5C97-FB6B-495F-A73E-8358F423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71850"/>
            <a:ext cx="47625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11430">
            <a:solidFill>
              <a:srgbClr val="F3BBBB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4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4545"/>
                </a:solidFill>
                <a:latin typeface="Arial"/>
                <a:ea typeface="Arial"/>
                <a:cs typeface="Arial"/>
              </a:rPr>
              <a:t>优先级 9</a:t>
            </a:r>
          </a:p>
          <a:p xmlns:a="http://schemas.openxmlformats.org/drawingml/2006/main">
            <a:pPr algn="ctr">
              <a:defRPr sz="1650" b="1">
                <a:solidFill>
                  <a:srgbClr val="C945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4545"/>
                </a:solidFill>
                <a:latin typeface="Arial"/>
                <a:ea typeface="Arial"/>
                <a:cs typeface="Arial"/>
              </a:rPr>
              <a:t>跨进程 Agent 检查点恢复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284D3-CF95-4E73-B8C5-1B6556AB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91050"/>
            <a:ext cx="476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当前具备超时、进程树回收和资源约束，但不把这些能力表述为完整沙箱。</a:t>
            </a:r>
          </a:p>
        </p:txBody>
      </p:sp>
    </p:spTree>
    <p:extLst>
      <p:ext uri="{BB962C8B-B14F-4D97-AF65-F5344CB8AC3E}">
        <p14:creationId xmlns:p14="http://schemas.microsoft.com/office/powerpoint/2010/main" val="1812536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4F6FC-13C6-4A50-BA5B-5C38933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B5409-2487-4694-9069-567DA23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84999-B50E-4D35-AA28-EEA5BF32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DCF7A-9203-4921-883E-3566B31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A8791-AC1F-41E7-AA92-5B7FA841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E0472-DFAC-420E-84E0-65B6F57D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五、三项课程测试要求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948AD-5867-48A7-9E31-84583757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三个入口共用同一证据与报告数据链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D4FFF-8514-4B4B-9D78-83B7DCE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1C4CE-C7E4-420C-95BA-869757B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C1138-DF83-4965-9C62-623CDFB8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907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开源大模型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533BC-D68C-4C7B-8FD0-D4FA488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431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1430">
            <a:solidFill>
              <a:srgbClr val="B9D7F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课程基线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DeepSeek R1 1.5B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Qwen2.5 1.5B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15 条安全合成探针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本机 Ollama 动态发现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9C439-40B7-48DF-AD6C-DC068B0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907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76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7600"/>
                </a:solidFill>
                <a:latin typeface="Arial"/>
                <a:ea typeface="Arial"/>
                <a:cs typeface="Arial"/>
              </a:rPr>
              <a:t>加壳闭源目标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FAC8D-EE83-4465-ACC4-88572729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1430">
            <a:solidFill>
              <a:srgbClr val="B9D7F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课程覆盖至少 2 款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单个目标即可运行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最多 6 个批量目标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特征识别、去壳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反编译与证据归档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398E6-B101-460D-8907-136C87DD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907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8F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F62"/>
                </a:solidFill>
                <a:latin typeface="Arial"/>
                <a:ea typeface="Arial"/>
                <a:cs typeface="Arial"/>
              </a:rPr>
              <a:t>混淆闭源目标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6D8A7-1E07-4A31-A7BB-46550A6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43150"/>
            <a:ext cx="33337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1430">
            <a:solidFill>
              <a:srgbClr val="B9D7F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课程覆盖至少 2 款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单个目标即可运行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最多 6 个批量目标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混淆对抗、伪代码</a:t>
            </a:r>
          </a:p>
          <a:p xmlns:a="http://schemas.openxmlformats.org/drawingml/2006/main">
            <a:pPr algn="ctr">
              <a:defRPr sz="15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关键逻辑与人工复核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21C80-8235-41E3-8519-BD5AC2D4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发现结果统一进入：漏洞候选 → 证据链 → 独立验证 → 人工标注 → 审计报告</a:t>
            </a:r>
          </a:p>
        </p:txBody>
      </p:sp>
    </p:spTree>
    <p:extLst>
      <p:ext uri="{BB962C8B-B14F-4D97-AF65-F5344CB8AC3E}">
        <p14:creationId xmlns:p14="http://schemas.microsoft.com/office/powerpoint/2010/main" val="1718095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5129AA-FD3D-491C-86C0-73FFC125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FD439-1AEB-459E-837F-08D0B47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F8466-E893-43C5-8408-7B05C86C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3602C-6657-4241-9925-B74D56CE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48D3-6588-4E0A-B37D-40A23503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1D7F4-1377-4527-A471-A7034FC2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六、前端八个界面与数据关系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4F4B-C70F-4EB1-B388-4F37C87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导航先进入测试入口，再沿任务、证据和报告查看结果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AF99E-CDA5-4313-85D0-9E2779B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DC662-FC00-4A80-8349-54BADE85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8B745-6B89-44AD-97F9-7FC647E4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F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EAC36-04E0-42AB-97A5-57F7E16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漏洞测试实验室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F640-4B08-4CC4-A42F-DA3139B9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配置与执行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269C4-3CB2-49EE-A521-8EF5F967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82960-50D4-4475-A3AA-9788DE58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907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AF9D0-3CE8-4C43-8B52-BED99106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907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态势大屏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4A1C2-F805-448E-AF23-924493AF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907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任务汇总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0741C-2BD2-47D4-BBEE-3F8FC2AE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121C1-E6B6-4789-AFFD-33DBE72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C09B6-AD44-44FE-AB37-CE75E85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Agent 编排拓扑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80ED6-7ADF-43F2-AE15-5C652B8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路由状态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7E322-8FDF-4F24-9735-D57096F9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7E2C5-6244-4E50-A0AE-F1085963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9070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0A044-CFE3-4975-B2C5-9B96E8C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907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事件遥测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284DB-0832-4DDD-B67C-81FBC8ED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运行时间线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AD4BD-34D3-4918-BC73-417D84F9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05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B825B-F3B0-41AA-B0D9-F88690C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004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BB387-2102-4B62-81AF-95119EBE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证据链矩阵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1DFAB-F329-4A7E-9551-6076B3E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伪代码与证据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BCC69-F5FB-4636-8E07-58C3C97F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148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187BD-C95A-41D8-BEB0-45E71EC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004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FFCC4-73ED-41B9-B89E-91CF70C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00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漏洞候选卷宗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84324E-4F3A-4405-B2EF-ACB7EF3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005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候选与人工复核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378AA7-94AA-4AF2-BC7F-C5EC9F12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148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80FBB-D51F-4057-88C2-5C8265B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BE8225-8E74-4C60-A40E-3E66ED2F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审计报告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86D076-A2F8-411B-AAA1-CE67137D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导出交付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1117C4-FC81-45B3-9F68-46304010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6E9669-CDDB-4AA3-9352-D516360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0450"/>
            <a:ext cx="552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8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41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19F57E-3CDA-4FCE-8FA3-72D9B09E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00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API 控制台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E9B2DC-46A3-4251-AF76-50D95EA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005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接口验证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8E7EEE-93B3-4F06-B518-E6D9163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148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73545-33AA-4345-A146-844CF82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测试入口生成任务，Agent 与事件记录过程，候选和证据解释结论，报告负责交付。</a:t>
            </a:r>
          </a:p>
        </p:txBody>
      </p:sp>
    </p:spTree>
    <p:extLst>
      <p:ext uri="{BB962C8B-B14F-4D97-AF65-F5344CB8AC3E}">
        <p14:creationId xmlns:p14="http://schemas.microsoft.com/office/powerpoint/2010/main" val="865127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55622-7953-407C-9E33-7D7E111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3514-1B1C-4A22-802A-49AA7AC3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E1822-2D18-4099-A0FC-ED1C2406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BA0FE-AC84-4D20-8C14-ED870A6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0CA50-540B-45FF-B80F-010B3DCD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2AE25-31AC-45EE-B750-265E68A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七、统一入口：漏洞测试实验室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518CD-2972-4C0C-B20C-A0EF99EE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三类测试共享参数配置、过程日志和结果归档逻辑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40260-0C37-4E5E-98D5-3B82F589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D3196-82A1-4A92-A3B0-518A0A29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59EC7-E33F-4411-BE28-C19D59B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71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入口设计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5E1D5-9D12-4945-A4E3-303DE706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09800"/>
            <a:ext cx="3238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9D7F5"/>
            </a:solidFill>
            <a:prstDash val="solid"/>
          </a:ln>
        </p:spPr>
        <p:txBody>
          <a:bodyPr xmlns:a="http://schemas.openxmlformats.org/drawingml/2006/main" lIns="114300" tIns="9525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三类测试入口并列显示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配置目标、授权选项和参数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实时日志与结果归档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单目标可运行，空目标拦截</a:t>
            </a:r>
          </a:p>
        </p:txBody>
      </p:sp>
      <p:sp>
        <p:nvSpPr>
          <p:cNvPr id="12" name="shot-testlab-overview">
            <a:extLst xmlns:a="http://schemas.openxmlformats.org/drawingml/2006/main">
              <a:ext uri="{FF2B5EF4-FFF2-40B4-BE49-F238E27FC236}">
                <a16:creationId xmlns:a16="http://schemas.microsoft.com/office/drawing/2014/main" id="{170B0BC8-EE09-49DE-946A-60860DB2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7620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70782-25FE-4761-9F54-F84AF5C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47850"/>
            <a:ext cx="727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截图占位｜三类测试入口总览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E3766-261F-4E36-A745-5293F4C0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723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前端位置：顶部导航第 1 项「漏洞测试实验室」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上传/选择：无需上传文件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操作时机：页面加载完成，保持左侧三类入口和中部参数区域可见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截图内容：导航顺序、三个分类卡片、LOCAL_ONLY / MIN_TARGETS 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451-FD42-41DE-82C3-56300AF1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91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</p:spTree>
    <p:extLst>
      <p:ext uri="{BB962C8B-B14F-4D97-AF65-F5344CB8AC3E}">
        <p14:creationId xmlns:p14="http://schemas.microsoft.com/office/powerpoint/2010/main" val="2029828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341A4-AFD4-4682-8C9A-10D2521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7E849-FD8F-433F-A6A5-68AAA3A5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9ACB2-6A65-48EC-8BA0-90F538BF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F9761-1C62-48D6-8541-807110E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FA763-1EA4-476E-9F5F-A6CACF3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D4695-1ABE-404C-A052-F539BE5E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八、本地开源大模型漏洞测试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6119B-B6E7-4518-8F11-CD2797D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回环地址、三类探针、确定性 Canary 与统一证据归档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111BE-C6BB-4332-AE45-114EF86F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7EB08-FBEA-4984-9251-A01896B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911D1-71D6-4C14-930B-FC87989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95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F46A5-683D-4A27-A9AE-0AE9D313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当前演示机已探测模型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C102B-8858-4A03-A54A-818F3ED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8F6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8F6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1C51D-698E-44F8-927B-95377123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3 类 × 5 条安全探针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F03A2-F6C9-41B5-A6C7-2AC2C5F7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127.0.0.1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C8E31-5B73-4F44-9525-1443E22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38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固定本地 Ollama 地址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ABC53-F551-4A64-A125-4C77E60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课程基线：DeepSeek R1 1.5B + Qwen2.5 1.5B</a:t>
            </a:r>
          </a:p>
          <a:p xmlns:a="http://schemas.openxmlformats.org/drawingml/2006/main">
            <a:pPr algn="ctr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扩展探测：Qwen2.5 3B + Llama3.2 1B</a:t>
            </a:r>
          </a:p>
        </p:txBody>
      </p:sp>
      <p:sp>
        <p:nvSpPr>
          <p:cNvPr id="17" name="shot-llm-models">
            <a:extLst xmlns:a="http://schemas.openxmlformats.org/drawingml/2006/main">
              <a:ext uri="{FF2B5EF4-FFF2-40B4-BE49-F238E27FC236}">
                <a16:creationId xmlns:a16="http://schemas.microsoft.com/office/drawing/2014/main" id="{3FE8FDF5-9A6B-49E0-BBED-D136CECF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366712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C8152-14FA-4832-A57E-7FA32E79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09750"/>
            <a:ext cx="3324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截图占位｜模型动态探测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CF8F2-D0D5-4946-9CE5-8CFCD31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3286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42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前端位置：漏洞测试实验室 &gt; 开源大模型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上传/选择：无需文件，确认 Ollama 已启动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操作时机：点击「重新探测模型」，等待成功提示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截图内容：下拉框四个模型及“发现 4 个已安装模型”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FC4D9-7ABF-4662-B6CB-211D8545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0517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  <p:sp>
        <p:nvSpPr>
          <p:cNvPr id="21" name="shot-llm-result">
            <a:extLst xmlns:a="http://schemas.openxmlformats.org/drawingml/2006/main">
              <a:ext uri="{FF2B5EF4-FFF2-40B4-BE49-F238E27FC236}">
                <a16:creationId xmlns:a16="http://schemas.microsoft.com/office/drawing/2014/main" id="{BA4EA16A-F2AD-4C23-B62C-886F473A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4191000" cy="3905250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CBD1D-DB19-4EA9-879E-C034064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截图占位｜扫描日志与结果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5ECAF-5D21-48BC-BB31-23F11D9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8100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前端位置：漏洞测试实验室 &gt; 开源大模型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上传/选择：选择 Qwen2.5 1.5B 或 DeepSeek R1 1.5B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操作时机：三类漏洞全选，运行至 15/15 完成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截图内容：进度、当前用例、响应片段、判定、等级统计和归档按钮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6341D-4BDE-4926-BAD1-A4511C77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</p:spTree>
    <p:extLst>
      <p:ext uri="{BB962C8B-B14F-4D97-AF65-F5344CB8AC3E}">
        <p14:creationId xmlns:p14="http://schemas.microsoft.com/office/powerpoint/2010/main" val="972739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D9357-283B-4D45-90B5-4128E39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FDD93-AD8C-4A85-95B5-A717E2E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DB051-51A7-4527-812F-0849690A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E3A3D-F870-43DC-BF0E-87709F1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7F7E8-15EE-4A5E-B173-30558060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72AE4-3F24-4AE3-89D3-CCD91717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九、加壳与混淆目标配置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CB40E-53F5-41FC-9180-4BA07683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课程覆盖至少 2 款，单次测试允许 1 到 6 个授权目标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58C7B-8155-436E-952D-0E953C1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DAB04-13A0-42A8-A65D-2D70B3CF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shot-packed-result">
            <a:extLst xmlns:a="http://schemas.openxmlformats.org/drawingml/2006/main">
              <a:ext uri="{FF2B5EF4-FFF2-40B4-BE49-F238E27FC236}">
                <a16:creationId xmlns:a16="http://schemas.microsoft.com/office/drawing/2014/main" id="{B80C77CB-BF33-4A1D-8BAB-CAF1B88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5381625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F9BAD-83D0-4F08-8BFD-EADFB279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503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截图占位｜加壳软件运行结果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90F7A-7466-4384-8653-27B8B6B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500062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前端位置：漏洞测试实验室 &gt; 加壳软件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上传/选择：afl-training-vulnagent-upx.exe；可再添加 google-fuzzing-vulnagent-upx.exe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操作时机：勾选本地分析授权，动态验证保持关闭，运行到完成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截图内容：目标卡片、工具状态、函数/伪代码数量、证据与结果摘要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45E62-35F7-4B71-BC13-D61788E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  <p:sp>
        <p:nvSpPr>
          <p:cNvPr id="14" name="shot-obfuscated-result">
            <a:extLst xmlns:a="http://schemas.openxmlformats.org/drawingml/2006/main">
              <a:ext uri="{FF2B5EF4-FFF2-40B4-BE49-F238E27FC236}">
                <a16:creationId xmlns:a16="http://schemas.microsoft.com/office/drawing/2014/main" id="{B98CCAE9-7F62-4BAE-A2FF-21562620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542925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02CC8-F9ED-4D0F-883E-C7B1EC96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截图占位｜混淆软件运行结果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3F8AA-CE09-4942-9E5C-031A9E59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28850"/>
            <a:ext cx="5048250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前端位置：漏洞测试实验室 &gt; 混淆软件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上传/选择：obfuscated-01-cracknotme-mcm2.exe；可再添加 obfuscated-02-desync-dotnet.exe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操作时机：勾选本地分析授权，动态验证保持关闭，运行到完成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截图内容：混淆信号、工具状态、候选、证据和结果摘要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34867-31AF-4C15-9E6D-8453B43A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292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EA8BE-EB3E-426A-8F24-5642EBC8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382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答辩表述：检测到保护特征 ≠ 已确认漏洞；动态未授权时显示“未启用”，覆盖率显示“不适用”。</a:t>
            </a:r>
          </a:p>
        </p:txBody>
      </p:sp>
    </p:spTree>
    <p:extLst>
      <p:ext uri="{BB962C8B-B14F-4D97-AF65-F5344CB8AC3E}">
        <p14:creationId xmlns:p14="http://schemas.microsoft.com/office/powerpoint/2010/main" val="1546989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FED00-9B18-4155-8732-2C9568CC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A203B-3201-4E18-B3B8-B4DCA87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40B05-E5CE-4CEE-85EC-032FF9C8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69A66-A0AC-43B7-A8E6-7EAF62FC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3F653-0731-482B-BEC2-9E7BA328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87889-F6B4-49E9-A003-8BA8AF6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十、二进制自主逆向工作流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AF85D-CA02-4A77-BF6E-37845A7A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智能体按保护信号选择去壳、反编译、语义分析和验证步骤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46DCB-61A2-42C4-929B-FFC84BB7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B6E4B-05E6-44E3-9D5E-3A8D9C5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F4F07-9D67-4B80-8D92-86197D43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4288">
            <a:solidFill>
              <a:srgbClr val="B9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7D086-5171-466C-9F56-2E4EF796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76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目标探查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37F49-58F0-447F-8B14-AD9E3461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PE/ELF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壳与混淆信号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36D6B-6E47-43A0-996A-35BCD17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86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4288">
            <a:solidFill>
              <a:srgbClr val="B9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511F2-F012-4CDE-AD72-77062626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76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智能规划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94C66-3FA1-4150-AB22-29A037A5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527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选择工具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限定授权边界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034B8-8850-4460-AE51-3F67D510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4288">
            <a:solidFill>
              <a:srgbClr val="B9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F36CE-26BD-4F52-9A88-591AD19D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76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副本去壳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0635E-E009-456A-A685-EBCDC8A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527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UPX -d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不执行目标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AE75C-2151-4B6A-AE1A-F57AD26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4288">
            <a:solidFill>
              <a:srgbClr val="B9D7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81770-1D21-4651-B0C7-44447C24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76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离线反编译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7308-A2E1-411D-9E12-8E23DDA4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527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radare2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函数 / CFG / pdc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79E77-E011-4A38-A6F5-83EC37BE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4288">
            <a:solidFill>
              <a:srgbClr val="B9D7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ABAA4-D9A6-4C0A-86F9-27F76E0E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语义标定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A0D33-DD71-4D80-99BC-BDDF9D8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527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认证 / 加密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注册与调用链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7E905-8651-412F-A67A-405347C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86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14288">
            <a:solidFill>
              <a:srgbClr val="B9D7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96F0D-3774-4083-BA73-DC6B5FB5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765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缺陷与复核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C848E-4068-4D69-9AE7-71EDF397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9527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候选 / Evidence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cxnSp>
        <p:nvCxnSpPr>
          <p:cNvPr id="6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14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D9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48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D9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5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D9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D9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63125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D9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02408-55F6-46A9-945B-7F28099A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工具失败也进入证据：记录 unavailable、timeout 或解析失败，不用模拟结果补空白。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20F6A-1833-4BE6-A462-B3D84C9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当前伪代码来自 radare2 pdc，不等同于原始源代码或完整 Ghidra 反编译。</a:t>
            </a:r>
          </a:p>
        </p:txBody>
      </p:sp>
    </p:spTree>
    <p:extLst>
      <p:ext uri="{BB962C8B-B14F-4D97-AF65-F5344CB8AC3E}">
        <p14:creationId xmlns:p14="http://schemas.microsoft.com/office/powerpoint/2010/main" val="24815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FF029-0FB9-4AE2-8F22-8F8F0E7B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20E21-07E1-4215-857E-C5388C90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3891F-803D-4AF8-9B22-31D449F3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981F4-7A20-44FD-85DA-90034948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0CC68-98D2-48A1-85D2-4AB5C86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AFD5A-97FA-46F1-AD0E-9BD4351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十一、可读伪代码与关键逻辑标定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FF68A-D64F-494A-9833-47D905E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同一工作台查看函数、代码、控制流、调用链与判定依据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7DD22-7D9E-4C87-8111-BC390538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5EAB7-9B08-455B-9938-309C62E5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DC953-925A-4C40-8ABF-3E71D662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3429000" cy="371475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9D7F5"/>
            </a:solidFill>
            <a:prstDash val="solid"/>
          </a:ln>
        </p:spPr>
        <p:txBody>
          <a:bodyPr xmlns:a="http://schemas.openxmlformats.org/drawingml/2006/main" lIns="114300" tIns="9525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按地址切换真实 pdc 伪代码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显示基础 CFG 后继关系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标定认证、加解密和注册逻辑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候选关联地址、片段和调用链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3F78"/>
                </a:solidFill>
                <a:latin typeface="Arial"/>
                <a:ea typeface="Arial"/>
                <a:cs typeface="Arial"/>
              </a:rPr>
              <a:t>无产物时说明具体原因</a:t>
            </a:r>
          </a:p>
        </p:txBody>
      </p:sp>
      <p:sp>
        <p:nvSpPr>
          <p:cNvPr id="11" name="shot-pseudocode-workbench">
            <a:extLst xmlns:a="http://schemas.openxmlformats.org/drawingml/2006/main">
              <a:ext uri="{FF2B5EF4-FFF2-40B4-BE49-F238E27FC236}">
                <a16:creationId xmlns:a16="http://schemas.microsoft.com/office/drawing/2014/main" id="{CE4B4131-7F23-4621-90D4-F873A0AC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95450"/>
            <a:ext cx="752475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60A0-484A-4A7A-9363-C4E78E6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718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截图占位｜二进制逆向与可读伪代码工作台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C3863-A852-455C-B0DF-ABEFA368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28850"/>
            <a:ext cx="714375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前端位置：证据链矩阵 &gt; 选择已完成二进制任务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上传/选择：前一步使用 afl-training-vulnagent-upx.exe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操作时机：分析完成后点击实验室中的「打开逆向伪代码、证据与报告」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截图内容：函数列表、伪代码正文、CFG、关键逻辑位置、调用链和判定依据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F8331-22A0-4CDF-A7C9-C5C34FFA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721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</p:spTree>
    <p:extLst>
      <p:ext uri="{BB962C8B-B14F-4D97-AF65-F5344CB8AC3E}">
        <p14:creationId xmlns:p14="http://schemas.microsoft.com/office/powerpoint/2010/main" val="12910126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048BB-4F02-4189-8C8A-A152D032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80562-133C-4F40-A2D6-395194DA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28831-7355-4A70-B9EF-1A7E13B0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3B3BD-92DB-44E9-9D83-32B47DD6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59559-6E76-4A10-A22F-2BC54B8C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61B5F-8108-4D61-8325-64027F9E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十二、独立验证、人工复核与报告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B59C9-094F-483E-9BA7-26A0AC88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机器状态和人工意见分别保存，报告同时展示两类结论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BC18C-4CF3-4858-9CCF-BF87A319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F8772-F77A-40B4-82E2-51388E3A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shot-human-review">
            <a:extLst xmlns:a="http://schemas.openxmlformats.org/drawingml/2006/main">
              <a:ext uri="{FF2B5EF4-FFF2-40B4-BE49-F238E27FC236}">
                <a16:creationId xmlns:a16="http://schemas.microsoft.com/office/drawing/2014/main" id="{E382F3E6-E3ED-409D-92FD-ED0A3A3A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5476875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8994D-D761-4C24-9A4D-B2EC953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47850"/>
            <a:ext cx="513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截图占位｜漏洞候选与人工标注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C37A-AC74-42E9-9C45-81DDD01C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509587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前端位置：漏洞候选卷宗 &gt; 选择同一任务和候选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上传/选择：无需再次上传，使用已归档的 LLM 或二进制任务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操作时机：选择复核意见，填写说明并保存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截图内容：候选状态、证据数量、人工复核与标注修正区域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17267-6F60-44D2-8856-532F94B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482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  <p:sp>
        <p:nvSpPr>
          <p:cNvPr id="14" name="shot-audit-report">
            <a:extLst xmlns:a="http://schemas.openxmlformats.org/drawingml/2006/main">
              <a:ext uri="{FF2B5EF4-FFF2-40B4-BE49-F238E27FC236}">
                <a16:creationId xmlns:a16="http://schemas.microsoft.com/office/drawing/2014/main" id="{057F818D-F03C-43C3-B232-5CF891E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476875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A8393-388C-43CA-A6E9-3EAFFC21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13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截图占位｜审计报告与导出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8A135-B352-4BDA-B846-D64D656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5095875" cy="298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前端位置：审计报告 &gt; 选择同一任务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上传/选择：无需再次上传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操作时机：人工标注保存后打开报告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截图内容：任务摘要、候选/证据、人工复核章节及 Markdown/JSON 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114CF-36B3-4563-8A8B-0797CB39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482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D1F05-AE6B-4D6D-AEC4-7551AFFD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334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人工标注不会直接把 UNCERTAIN 改成 CONFIRMED，也不会覆盖自动 Verification 记录。</a:t>
            </a:r>
          </a:p>
        </p:txBody>
      </p:sp>
    </p:spTree>
    <p:extLst>
      <p:ext uri="{BB962C8B-B14F-4D97-AF65-F5344CB8AC3E}">
        <p14:creationId xmlns:p14="http://schemas.microsoft.com/office/powerpoint/2010/main" val="11143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7E0C8-8B8F-4ECD-BE0C-4E4717E5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A66A3-1620-4CEF-B328-8189716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8B1D3-470D-488C-BA58-896712F8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C0C01-5F67-4F56-A41E-3FEC02B8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D42E8-D026-42AD-82F7-EE98CE12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9A349-2417-4039-9BFA-15F571A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十三、态势大屏与自定义审计目标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C7101-4C68-4649-93A4-FF654819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Benchmark 卡片是固定目标，自定义上传是一条独立审计入口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61B31-3424-46F3-A5EC-82391989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B91D6-E1DA-4376-A08E-75B2F84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sp>
        <p:nvSpPr>
          <p:cNvPr id="10" name="shot-custom-target">
            <a:extLst xmlns:a="http://schemas.openxmlformats.org/drawingml/2006/main">
              <a:ext uri="{FF2B5EF4-FFF2-40B4-BE49-F238E27FC236}">
                <a16:creationId xmlns:a16="http://schemas.microsoft.com/office/drawing/2014/main" id="{C6161E47-B6E4-48F4-98EC-14F1122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95450"/>
            <a:ext cx="723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9050">
            <a:solidFill>
              <a:srgbClr val="6CAAF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75C4F-FB4E-4209-BE7B-8936D3DD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2880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截图占位｜自定义目标上传后等待确认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B85AC-7F3E-429C-A062-D7B70A4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28850"/>
            <a:ext cx="6858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前端位置：态势大屏 &gt; 系统漏洞评测实验基准套件 &gt; 指定自定义审计目标路径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上传/选择：选择二进制并上传 afl-training-vulnagent-upx.exe；或选择源码上传 .py/.c/.h/.go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操作时机：上传完成后停留在表单，不点击「初始化并开始审计」</a:t>
            </a:r>
          </a:p>
          <a:p xmlns:a="http://schemas.openxmlformats.org/drawingml/2006/main">
            <a:pPr algn="l">
              <a:defRPr sz="1200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截图内容：文件已就绪提示、目标类型、授权选项、取消按钮和仍存在的启动按钮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9916B-9C8A-4A82-A09F-EFCDBD6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72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替换提示：删除本占位框后插入真实截图，保持原图比例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EF497-E57F-4417-A0B3-0014D57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三个预置 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F7326-9A5C-4027-8B0E-AC0BD6AC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3143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9D7F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Python 多类型项目</a:t>
            </a:r>
          </a:p>
          <a:p xmlns:a="http://schemas.openxmlformats.org/drawingml/2006/main">
            <a:pPr algn="ctr">
              <a:defRPr sz="1275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samples/source_demo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C885F-30C1-4492-8493-5469B43D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143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9D7F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Python Web SQL 注入</a:t>
            </a:r>
          </a:p>
          <a:p xmlns:a="http://schemas.openxmlformats.org/drawingml/2006/main">
            <a:pPr algn="ctr">
              <a:defRPr sz="1275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samples/source_demo/vulnerable.py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F993A-4B88-4C09-8C49-FBBEA23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9D7F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PE 教学二进制</a:t>
            </a:r>
          </a:p>
          <a:p xmlns:a="http://schemas.openxmlformats.org/drawingml/2006/main">
            <a:pPr algn="ctr">
              <a:defRPr sz="1275" b="0">
                <a:solidFill>
                  <a:srgbClr val="173F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F78"/>
                </a:solidFill>
                <a:latin typeface="Arial"/>
                <a:ea typeface="Arial"/>
                <a:cs typeface="Arial"/>
              </a:rPr>
              <a:t>artifacts/demos/binary-demo.exe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3200E-1387-400E-82FB-85358948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429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上传自定义文件后无需再点预置卡片。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.php 和 .zip 当前不由浏览器上传接口直接分析。</a:t>
            </a:r>
          </a:p>
        </p:txBody>
      </p:sp>
    </p:spTree>
    <p:extLst>
      <p:ext uri="{BB962C8B-B14F-4D97-AF65-F5344CB8AC3E}">
        <p14:creationId xmlns:p14="http://schemas.microsoft.com/office/powerpoint/2010/main" val="1405513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3FF8C-DE2A-4706-AEC1-607A5244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204CC-D387-460F-9130-DA489D99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45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507A6-324A-49A6-8860-B5AE4C6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68D9"/>
            </a:solidFill>
            <a:prstDash val="solid"/>
          </a:ln>
        </p:spPr>
        <p:txBody>
          <a:bodyPr xmlns:a="http://schemas.openxmlformats.org/drawingml/2006/main" anchor="ctr">
            <a:normAutofit fontScale="9304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</a:t>
            </a:r>
          </a:p>
          <a:p xmlns:a="http://schemas.openxmlformats.org/drawingml/2006/main">
            <a:pPr algn="ctr">
              <a:defRPr sz="6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08E69-1F01-4B4F-B4BE-6A2BF24A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670EF-6FC2-48E3-A8CC-E43AA26C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0B4597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286FD-A77A-41B0-BF8B-692BAFAD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十四、实验结果与工程验证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A1A29-A1F3-4418-828B-58946C0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43000"/>
            <a:ext cx="8715375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展示本次运行数据，同时保留生成式模型和可选依赖的边界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FA4DE-F341-4156-886D-E262DF59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7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2723A-4812-4EF9-8A30-94855DE3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246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A2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8A2D4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57200" y="1733550"/>
          <a:ext xmlns:a="http://schemas.openxmlformats.org/drawingml/2006/main" cx="7524750" cy="3476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182178"/>
                <a:gridCol w="1580198"/>
                <a:gridCol w="3762375"/>
              </a:tblGrid>
              <a:tr h="695325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验证项</a:t>
                      </a:r>
                    </a:p>
                  </a:txBody>
                  <a:tcPr marL="66675" marR="66675" marT="66675" marB="66675">
                    <a:solidFill>
                      <a:srgbClr val="0B459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结果</a:t>
                      </a:r>
                    </a:p>
                  </a:txBody>
                  <a:tcPr marL="66675" marR="66675" marT="66675" marB="66675">
                    <a:solidFill>
                      <a:srgbClr val="0B459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说明</a:t>
                      </a:r>
                    </a:p>
                  </a:txBody>
                  <a:tcPr marL="66675" marR="66675" marT="66675" marB="66675">
                    <a:solidFill>
                      <a:srgbClr val="0B4597"/>
                    </a:solidFill>
                  </a:tcPr>
                </a:tc>
              </a:tr>
              <a:tr h="695325"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课程双模型后端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15/15 × 2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DeepSeek 与 Qwen 每轮 0 执行错误</a:t>
                      </a:r>
                    </a:p>
                  </a:txBody>
                  <a:tcPr marL="66675" marR="66675" marT="66675" marB="66675"/>
                </a:tc>
              </a:tr>
              <a:tr h="695325"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Qwen 浏览器闭环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15/15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某次实测 3 触发、6 证据、3 UNCERTAIN</a:t>
                      </a:r>
                    </a:p>
                  </a:txBody>
                  <a:tcPr marL="66675" marR="66675" marT="66675" marB="66675"/>
                </a:tc>
              </a:tr>
              <a:tr h="695325"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加壳样本逆向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24 / 24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24 函数、24 伪代码、1 候选、8 证据</a:t>
                      </a:r>
                    </a:p>
                  </a:txBody>
                  <a:tcPr marL="66675" marR="66675" marT="66675" marB="66675"/>
                </a:tc>
              </a:tr>
              <a:tr h="695325"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本轮定向回归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7/7 + 8/8</a:t>
                      </a:r>
                    </a:p>
                  </a:txBody>
                  <a:tcPr marL="66675" marR="66675" marT="66675" marB="66675"/>
                </a:tc>
                <a:tc>
                  <a:txBody>
                    <a:bodyPr anchor="ctr"/>
                    <a:lstStyle/>
                    <a:p>
                      <a:r>
                        <a:rPr sz="1125">
                          <a:solidFill>
                            <a:srgbClr val="173F78"/>
                          </a:solidFill>
                          <a:latin typeface="Arial"/>
                          <a:ea typeface="Arial"/>
                          <a:cs typeface="Arial"/>
                        </a:rPr>
                        <a:t>LLM 与 TestLab 回归通过，前端检查和构建通过</a:t>
                      </a:r>
                    </a:p>
                  </a:txBody>
                  <a:tcPr marL="66675" marR="66675" marT="66675" marB="66675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B3F03-674C-4B35-80EE-BC2EBC4B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268D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68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F8E17-965B-491B-944F-B3FE37CB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当前演示机动态探测模型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9E8B8-E0C6-4F16-9A77-0A07006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0515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9525">
            <a:solidFill>
              <a:srgbClr val="B7E4CD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F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F62"/>
                </a:solidFill>
                <a:latin typeface="Arial"/>
                <a:ea typeface="Arial"/>
                <a:cs typeface="Arial"/>
              </a:rPr>
              <a:t>既有全量基线</a:t>
            </a:r>
          </a:p>
          <a:p xmlns:a="http://schemas.openxmlformats.org/drawingml/2006/main">
            <a:pPr algn="ctr">
              <a:defRPr sz="1800" b="1">
                <a:solidFill>
                  <a:srgbClr val="168F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F62"/>
                </a:solidFill>
                <a:latin typeface="Arial"/>
                <a:ea typeface="Arial"/>
                <a:cs typeface="Arial"/>
              </a:rPr>
              <a:t>471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25C16-CF00-440B-ADE4-5393728E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3143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生成式模型触发数会随采样变化。</a:t>
            </a:r>
          </a:p>
          <a:p xmlns:a="http://schemas.openxmlformats.org/drawingml/2006/main">
            <a:pPr algn="ctr">
              <a:defRPr sz="1200" b="0">
                <a:solidFill>
                  <a:srgbClr val="5474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749D"/>
                </a:solidFill>
                <a:latin typeface="Arial"/>
                <a:ea typeface="Arial"/>
                <a:cs typeface="Arial"/>
              </a:rPr>
              <a:t>全套 PDF 测试需要可选 reportlab 依赖。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91085-6FFE-4A42-8322-58D97FE6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5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597"/>
                </a:solidFill>
                <a:latin typeface="Arial"/>
                <a:ea typeface="Arial"/>
                <a:cs typeface="Arial"/>
              </a:rPr>
              <a:t>本轮新增功能的定向回归、生产构建和真实浏览器链路均已通过。</a:t>
            </a:r>
          </a:p>
        </p:txBody>
      </p:sp>
    </p:spTree>
    <p:extLst>
      <p:ext uri="{BB962C8B-B14F-4D97-AF65-F5344CB8AC3E}">
        <p14:creationId xmlns:p14="http://schemas.microsoft.com/office/powerpoint/2010/main" val="1077119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9F9DFF-7B38-4ADE-A7F3-3A689790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北京邮电大学  ·  课程项目验收汇报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5B378-8B57-433F-8C6C-A8333033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3B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FDDA8-6F22-40E5-BBFD-7DD3D93A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3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761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3068E-D1A5-4FA4-AE29-0C97F5EF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北京邮电大学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3684D-01C2-47FD-BE21-B5CA38B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10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Beijing University of Posts and Telecommunications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95620-466F-463A-96F0-CE5B016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0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十五、总结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F0A8A-432F-4A1B-9FDC-43D579B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43050"/>
            <a:ext cx="3790950" cy="1838325"/>
          </a:xfrm>
          <a:prstGeom xmlns:a="http://schemas.openxmlformats.org/drawingml/2006/main" prst="roundRect">
            <a:avLst>
              <a:gd name="adj" fmla="val 67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0F3A7-A48E-4495-BC19-1CE786D8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7811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8451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01361-892A-41D2-AA85-68C25098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多模型与多目标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48421-530B-4F7F-9BC6-DF59C82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Ollama 动态发现 · 单目标与批量分析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B65FB-C74D-4C77-81BA-552882D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43050"/>
            <a:ext cx="3790950" cy="1838325"/>
          </a:xfrm>
          <a:prstGeom xmlns:a="http://schemas.openxmlformats.org/drawingml/2006/main" prst="roundRect">
            <a:avLst>
              <a:gd name="adj" fmla="val 67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2B38D-578B-4173-8600-667D865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811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24DA6-4EA7-4790-8B4B-9D32A76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98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可读逆向证据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B57D7-A589-47A2-950B-AB01752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0990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函数 · 伪代码 · 控制流与关键逻辑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D9753-EA31-41BA-ABCD-B5D6951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790950" cy="1838325"/>
          </a:xfrm>
          <a:prstGeom xmlns:a="http://schemas.openxmlformats.org/drawingml/2006/main" prst="roundRect">
            <a:avLst>
              <a:gd name="adj" fmla="val 67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17CAD-EE40-4AE5-9D3E-D30AB025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811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0E63D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E63D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68939-2BD6-4D8C-B6B8-7AABE088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独立验证与复核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C1C02-EDB1-4CAD-B609-E32D77A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机器结论与人工标注分别保存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D959D-EE53-4CD3-BD13-669406E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43300"/>
            <a:ext cx="116681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  <p:txBody>
          <a:bodyPr xmlns:a="http://schemas.openxmlformats.org/drawingml/2006/main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V0.41 把本地模型和受保护二进制纳入同一套可配置、可复核、可审计的测试闭环。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9CA47-4F5B-4E69-B832-21C13BE7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248150"/>
            <a:ext cx="3886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DDEFB-2247-4D55-A185-F74B1981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D9"/>
          </a:solidFill>
          <a:ln xmlns:a="http://schemas.openxmlformats.org/drawingml/2006/main" w="9525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850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0AE6A-93DA-44FE-8A53-B09E0E03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三类测试统一入口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87504-8670-4FE8-A798-60760AD4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14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大模型、加壳和混淆目标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8D937-F11B-4684-B178-9F9A4A2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48150"/>
            <a:ext cx="3886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FE69F-858E-45EC-9634-8E695E8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D9"/>
          </a:solidFill>
          <a:ln xmlns:a="http://schemas.openxmlformats.org/drawingml/2006/main" w="9525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850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03C3F-F6B0-4C58-B1AB-258E2056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81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真实工具产物可视化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DB485-8249-45C6-A006-ADDB9119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14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去壳、反编译与证据定位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9536C-9BC7-4C52-8529-E0D00265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48150"/>
            <a:ext cx="3886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578B2-E10B-4008-9077-FFC1D2C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D9"/>
          </a:solidFill>
          <a:ln xmlns:a="http://schemas.openxmlformats.org/drawingml/2006/main" w="9525">
            <a:solidFill>
              <a:srgbClr val="0E63D9"/>
            </a:solidFill>
            <a:prstDash val="solid"/>
          </a:ln>
        </p:spPr>
        <p:txBody>
          <a:bodyPr xmlns:a="http://schemas.openxmlformats.org/drawingml/2006/main" anchor="ctr">
            <a:normAutofit fontScale="850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B9639-2D31-4C3E-9E74-06E27EFE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发现与确认分离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2F955A-06FB-463B-AB42-A6DC8A5F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14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Evidence First 与诚实边界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84B02-339A-4B49-8C3D-A3103855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62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B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60B20F-55E9-4D33-8A27-D36073A1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7626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B7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071AC-E00E-466B-83A1-B436E42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73B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3B91"/>
                </a:solidFill>
                <a:latin typeface="Arial"/>
                <a:ea typeface="Arial"/>
                <a:cs typeface="Arial"/>
              </a:rPr>
              <a:t>谢谢各位老师，欢迎提问！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0E9EBB-D3CC-4F78-A29F-7ACADFBA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150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智  联  未  来     安  全  同  行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3B79"/>
                </a:solidFill>
                <a:latin typeface="Arial"/>
                <a:ea typeface="Arial"/>
                <a:cs typeface="Arial"/>
              </a:rPr>
              <a:t>T H A N K   Y O 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291608-852D-4D2B-AEA0-609A68A7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D8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CD948D-68F7-48D3-9407-469AC146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3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192B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192BE"/>
                </a:solidFill>
                <a:latin typeface="Arial"/>
                <a:ea typeface="Arial"/>
                <a:cs typeface="Arial"/>
              </a:rPr>
              <a:t>大模型  ×  智能体  ×  网络安全</a:t>
            </a:r>
          </a:p>
        </p:txBody>
      </p:sp>
    </p:spTree>
    <p:extLst>
      <p:ext uri="{BB962C8B-B14F-4D97-AF65-F5344CB8AC3E}">
        <p14:creationId xmlns:p14="http://schemas.microsoft.com/office/powerpoint/2010/main" val="1173026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2026-09-11T19:31:58.4080000Z</dcterms:created>
  <dcterms:modified xsi:type="dcterms:W3CDTF">2026-09-11T19:31:58.4080000Z</dcterms:modified>
</coreProperties>
</file>